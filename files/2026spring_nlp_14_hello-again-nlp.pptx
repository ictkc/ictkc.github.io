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"/>
  </p:notesMasterIdLst>
  <p:sldIdLst>
    <p:sldId id="257" r:id="rId2"/>
    <p:sldId id="263" r:id="rId3"/>
    <p:sldId id="6411" r:id="rId4"/>
    <p:sldId id="372" r:id="rId5"/>
    <p:sldId id="603" r:id="rId6"/>
    <p:sldId id="618" r:id="rId7"/>
    <p:sldId id="259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00B050"/>
    <a:srgbClr val="A2CDEC"/>
    <a:srgbClr val="E1F7D1"/>
    <a:srgbClr val="C9E03D"/>
    <a:srgbClr val="1649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主题样式 2 - 强调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13" autoAdjust="0"/>
    <p:restoredTop sz="81607"/>
  </p:normalViewPr>
  <p:slideViewPr>
    <p:cSldViewPr snapToGrid="0" showGuides="1">
      <p:cViewPr varScale="1">
        <p:scale>
          <a:sx n="101" d="100"/>
          <a:sy n="101" d="100"/>
        </p:scale>
        <p:origin x="992" y="200"/>
      </p:cViewPr>
      <p:guideLst>
        <p:guide orient="horz" pos="2160"/>
        <p:guide pos="384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54A336-C69E-4714-9C77-EDF27533E981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7E4B67-FCD3-4532-BCA6-DE877EA718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69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814085-1836-4067-BF05-EE1CEA907A8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0545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72BC0-D4AD-88AA-6EE2-ADD5BE2AB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77D648B-3516-9106-7AF2-E84D5EB6C3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0E2B3E-A6E0-E123-E2C7-11745ED7B7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EC1763-B826-C369-CE93-0FA07F3EAE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7E4B67-FCD3-4532-BCA6-DE877EA7182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41024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2026E-D3AA-D854-5543-CC5E114D7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0344B2F-F046-797D-8770-C1D25D0C2D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CE6F129-4041-6386-EEDF-8DAF277E45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dirty="0"/>
              <a:t>对标注数据要求高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6B4532-4E12-8CFF-CDDB-1DA1166606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7E4B67-FCD3-4532-BCA6-DE877EA7182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45032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06E77-BAEE-70A8-8E09-5B9331833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7CDD760-7F52-FAF4-F5B4-5A66CAEBA6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F9D86CE-E83B-2E05-4790-A3C3A74452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dirty="0"/>
              <a:t>对标注数据要求高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4D632C5-7A56-BB68-B5F3-0D35FFFC81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7E4B67-FCD3-4532-BCA6-DE877EA7182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8566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9C643-C168-9D48-92F0-FA304C01CEF5}" type="datetime1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70648-4C7E-4A21-B8DD-2D13240990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473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588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E07D3-95C3-9140-9D00-20361D3AFBAC}" type="datetime1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410950" y="6356350"/>
            <a:ext cx="590550" cy="365125"/>
          </a:xfrm>
        </p:spPr>
        <p:txBody>
          <a:bodyPr/>
          <a:lstStyle>
            <a:lvl1pPr algn="ctr">
              <a:defRPr sz="1600">
                <a:latin typeface="Century Schoolbook" panose="02040604050505020304" pitchFamily="18" charset="0"/>
              </a:defRPr>
            </a:lvl1pPr>
          </a:lstStyle>
          <a:p>
            <a:fld id="{BEB70648-4C7E-4A21-B8DD-2D1324099071}" type="slidenum">
              <a:rPr lang="zh-CN" altLang="en-US" smtClean="0"/>
              <a:pPr/>
              <a:t>‹#›</a:t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838200" y="1624013"/>
            <a:ext cx="10515600" cy="0"/>
          </a:xfrm>
          <a:prstGeom prst="line">
            <a:avLst/>
          </a:prstGeom>
          <a:ln w="38100">
            <a:gradFill flip="none" rotWithShape="1">
              <a:gsLst>
                <a:gs pos="100000">
                  <a:schemeClr val="accent2">
                    <a:lumMod val="0"/>
                    <a:lumOff val="100000"/>
                  </a:schemeClr>
                </a:gs>
                <a:gs pos="83375">
                  <a:srgbClr val="F5E2E4"/>
                </a:gs>
                <a:gs pos="66750">
                  <a:srgbClr val="EBC4C9"/>
                </a:gs>
                <a:gs pos="45500">
                  <a:srgbClr val="D78992"/>
                </a:gs>
                <a:gs pos="3000">
                  <a:srgbClr val="AE1324"/>
                </a:gs>
              </a:gsLst>
              <a:path path="circle">
                <a:fillToRect t="100000" r="100000"/>
              </a:path>
              <a:tileRect l="-100000" b="-100000"/>
            </a:gra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8" name="图片 7" descr="横版组合——透明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58388" y="90378"/>
            <a:ext cx="2062162" cy="4329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93472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588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8E67-5C86-264F-8E41-A575368D17D5}" type="datetime1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838200" y="1624013"/>
            <a:ext cx="10515600" cy="0"/>
          </a:xfrm>
          <a:prstGeom prst="line">
            <a:avLst/>
          </a:prstGeom>
          <a:ln w="38100">
            <a:gradFill flip="none" rotWithShape="1">
              <a:gsLst>
                <a:gs pos="100000">
                  <a:schemeClr val="accent2">
                    <a:lumMod val="0"/>
                    <a:lumOff val="100000"/>
                  </a:schemeClr>
                </a:gs>
                <a:gs pos="83375">
                  <a:srgbClr val="F5E2E4"/>
                </a:gs>
                <a:gs pos="66750">
                  <a:srgbClr val="EBC4C9"/>
                </a:gs>
                <a:gs pos="45500">
                  <a:srgbClr val="D78992"/>
                </a:gs>
                <a:gs pos="3000">
                  <a:srgbClr val="AE1324"/>
                </a:gs>
              </a:gsLst>
              <a:path path="circle">
                <a:fillToRect t="100000" r="100000"/>
              </a:path>
              <a:tileRect l="-100000" b="-100000"/>
            </a:gra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8" name="图片 7" descr="横版组合——透明.png">
            <a:extLst>
              <a:ext uri="{FF2B5EF4-FFF2-40B4-BE49-F238E27FC236}">
                <a16:creationId xmlns:a16="http://schemas.microsoft.com/office/drawing/2014/main" id="{6026D8A6-6FA7-4C9F-4298-3C2D8B2A36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58388" y="90378"/>
            <a:ext cx="2062162" cy="4329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75D344DC-3EB7-F7F9-B2A9-4E522DAC9828}"/>
              </a:ext>
            </a:extLst>
          </p:cNvPr>
          <p:cNvSpPr txBox="1">
            <a:spLocks/>
          </p:cNvSpPr>
          <p:nvPr userDrawn="1"/>
        </p:nvSpPr>
        <p:spPr>
          <a:xfrm>
            <a:off x="11410950" y="6356350"/>
            <a:ext cx="5905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Century Schoolbook" panose="020406040505050203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EB70648-4C7E-4A21-B8DD-2D132409907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5511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1C62A-E7EF-5F4A-9D1A-5DD3E0BC027A}" type="datetime1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70648-4C7E-4A21-B8DD-2D13240990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9592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99B03-7D26-EF41-BCB3-205301062330}" type="datetime1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70648-4C7E-4A21-B8DD-2D13240990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1433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294E-C064-3A42-ADDB-4C84996D984D}" type="datetime1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70648-4C7E-4A21-B8DD-2D13240990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8134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9948C-BFE6-FA4E-8FEB-BD05BD9CEED3}" type="datetime1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70648-4C7E-4A21-B8DD-2D13240990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31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33B40-D630-0240-A920-5D126348D856}" type="datetime1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70648-4C7E-4A21-B8DD-2D13240990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6922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058A0-044D-4E47-9E0C-C0FF5F5F038E}" type="datetime1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70648-4C7E-4A21-B8DD-2D13240990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4409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759F1-ACE2-F847-B13C-97E91E1DF429}" type="datetime1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70648-4C7E-4A21-B8DD-2D13240990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6906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A769C-2538-EA42-A1D5-49B00FFCBC10}" type="datetime1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70648-4C7E-4A21-B8DD-2D13240990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6065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125F80D6-BA28-DD4C-8F69-F4D123106465}" type="datetime1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B0403A9-6F57-44BB-8D80-D390D4D8050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2582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664046-7C25-D74F-BA73-19DBFFD83226}" type="datetime1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B70648-4C7E-4A21-B8DD-2D13240990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817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5" Type="http://schemas.openxmlformats.org/officeDocument/2006/relationships/hyperlink" Target="https://ictkc.github.io/teaching/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4" descr="横版组合——透明.pn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51383" y="476672"/>
            <a:ext cx="4286912" cy="9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3" name="组合 12">
            <a:extLst>
              <a:ext uri="{FF2B5EF4-FFF2-40B4-BE49-F238E27FC236}">
                <a16:creationId xmlns:a16="http://schemas.microsoft.com/office/drawing/2014/main" id="{B83801AB-6287-D773-C14C-72888EED6B65}"/>
              </a:ext>
            </a:extLst>
          </p:cNvPr>
          <p:cNvGrpSpPr/>
          <p:nvPr/>
        </p:nvGrpSpPr>
        <p:grpSpPr>
          <a:xfrm>
            <a:off x="1371960" y="1544925"/>
            <a:ext cx="9424226" cy="2338142"/>
            <a:chOff x="1371960" y="1544925"/>
            <a:chExt cx="9424226" cy="2338142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1DAB9689-8FE7-148F-9A32-5C90A3AD1DDE}"/>
                </a:ext>
              </a:extLst>
            </p:cNvPr>
            <p:cNvSpPr/>
            <p:nvPr/>
          </p:nvSpPr>
          <p:spPr>
            <a:xfrm>
              <a:off x="1524000" y="1703582"/>
              <a:ext cx="9144000" cy="2179485"/>
            </a:xfrm>
            <a:prstGeom prst="rect">
              <a:avLst/>
            </a:prstGeom>
            <a:solidFill>
              <a:schemeClr val="bg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800" dirty="0">
                  <a:solidFill>
                    <a:srgbClr val="164994"/>
                  </a:solidFill>
                  <a:latin typeface="Weibei SC" panose="03000800000000000000" pitchFamily="66" charset="-128"/>
                  <a:ea typeface="Weibei SC" panose="03000800000000000000" pitchFamily="66" charset="-128"/>
                </a:rPr>
                <a:t>自然语言处理</a:t>
              </a:r>
              <a:endParaRPr lang="en-US" altLang="zh-CN" sz="8800" dirty="0">
                <a:solidFill>
                  <a:srgbClr val="164994"/>
                </a:solidFill>
                <a:latin typeface="Weibei SC" panose="03000800000000000000" pitchFamily="66" charset="-128"/>
                <a:ea typeface="Weibei SC" panose="03000800000000000000" pitchFamily="66" charset="-128"/>
              </a:endParaRPr>
            </a:p>
            <a:p>
              <a:pPr algn="ctr"/>
              <a:r>
                <a:rPr lang="zh-CN" altLang="en-US" sz="4400" dirty="0">
                  <a:solidFill>
                    <a:srgbClr val="164994"/>
                  </a:solidFill>
                  <a:latin typeface="Apple Chancery" panose="03020702040506060504" pitchFamily="66" charset="-79"/>
                  <a:ea typeface="Weibei SC" panose="03000800000000000000" pitchFamily="66" charset="-128"/>
                  <a:cs typeface="Apple Chancery" panose="03020702040506060504" pitchFamily="66" charset="-79"/>
                </a:rPr>
                <a:t>第</a:t>
              </a:r>
              <a:r>
                <a:rPr lang="en-US" altLang="zh-CN" sz="4400" dirty="0">
                  <a:solidFill>
                    <a:srgbClr val="164994"/>
                  </a:solidFill>
                  <a:latin typeface="Apple Chancery" panose="03020702040506060504" pitchFamily="66" charset="-79"/>
                  <a:ea typeface="Weibei SC" panose="03000800000000000000" pitchFamily="66" charset="-128"/>
                  <a:cs typeface="Apple Chancery" panose="03020702040506060504" pitchFamily="66" charset="-79"/>
                </a:rPr>
                <a:t>14</a:t>
              </a:r>
              <a:r>
                <a:rPr lang="zh-CN" altLang="en-US" sz="4400" dirty="0">
                  <a:solidFill>
                    <a:srgbClr val="164994"/>
                  </a:solidFill>
                  <a:latin typeface="Apple Chancery" panose="03020702040506060504" pitchFamily="66" charset="-79"/>
                  <a:ea typeface="Weibei SC" panose="03000800000000000000" pitchFamily="66" charset="-128"/>
                  <a:cs typeface="Apple Chancery" panose="03020702040506060504" pitchFamily="66" charset="-79"/>
                </a:rPr>
                <a:t>讲 </a:t>
              </a:r>
              <a:r>
                <a:rPr lang="en-US" altLang="zh-CN" sz="4400" dirty="0">
                  <a:solidFill>
                    <a:srgbClr val="164994"/>
                  </a:solidFill>
                  <a:latin typeface="Tsukushi A Round Gothic Regular" panose="02020400000000000000" pitchFamily="18" charset="-128"/>
                  <a:ea typeface="Tsukushi A Round Gothic Regular" panose="02020400000000000000" pitchFamily="18" charset="-128"/>
                  <a:cs typeface="Apple Chancery" panose="03020702040506060504" pitchFamily="66" charset="-79"/>
                </a:rPr>
                <a:t>Hello again, NLP!</a:t>
              </a:r>
              <a:endParaRPr lang="zh-CN" altLang="en-US" sz="16600" dirty="0">
                <a:solidFill>
                  <a:srgbClr val="164994"/>
                </a:solidFill>
                <a:latin typeface="Tsukushi A Round Gothic Regular" panose="02020400000000000000" pitchFamily="18" charset="-128"/>
                <a:ea typeface="Tsukushi A Round Gothic Regular" panose="02020400000000000000" pitchFamily="18" charset="-128"/>
                <a:cs typeface="Apple Chancery" panose="03020702040506060504" pitchFamily="66" charset="-79"/>
              </a:endParaRPr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C567D3FE-B61B-04C5-C397-4B8658BAF3A1}"/>
                </a:ext>
              </a:extLst>
            </p:cNvPr>
            <p:cNvGrpSpPr/>
            <p:nvPr/>
          </p:nvGrpSpPr>
          <p:grpSpPr>
            <a:xfrm>
              <a:off x="1371960" y="1544925"/>
              <a:ext cx="9424226" cy="2145538"/>
              <a:chOff x="1371960" y="1544925"/>
              <a:chExt cx="9424226" cy="2145538"/>
            </a:xfrm>
          </p:grpSpPr>
          <p:grpSp>
            <p:nvGrpSpPr>
              <p:cNvPr id="19" name="组合 18">
                <a:extLst>
                  <a:ext uri="{FF2B5EF4-FFF2-40B4-BE49-F238E27FC236}">
                    <a16:creationId xmlns:a16="http://schemas.microsoft.com/office/drawing/2014/main" id="{0344BF1B-E11C-8D74-8677-F2BC042A94C3}"/>
                  </a:ext>
                </a:extLst>
              </p:cNvPr>
              <p:cNvGrpSpPr/>
              <p:nvPr/>
            </p:nvGrpSpPr>
            <p:grpSpPr>
              <a:xfrm>
                <a:off x="1371960" y="1544925"/>
                <a:ext cx="3500927" cy="803557"/>
                <a:chOff x="1500147" y="1472851"/>
                <a:chExt cx="3500927" cy="803557"/>
              </a:xfrm>
            </p:grpSpPr>
            <p:cxnSp>
              <p:nvCxnSpPr>
                <p:cNvPr id="23" name="直接连接符 6">
                  <a:extLst>
                    <a:ext uri="{FF2B5EF4-FFF2-40B4-BE49-F238E27FC236}">
                      <a16:creationId xmlns:a16="http://schemas.microsoft.com/office/drawing/2014/main" id="{65429757-2F7B-5A7E-4E36-A49DB5ED123F}"/>
                    </a:ext>
                  </a:extLst>
                </p:cNvPr>
                <p:cNvCxnSpPr/>
                <p:nvPr/>
              </p:nvCxnSpPr>
              <p:spPr>
                <a:xfrm flipV="1">
                  <a:off x="1500147" y="1472851"/>
                  <a:ext cx="3500927" cy="17091"/>
                </a:xfrm>
                <a:prstGeom prst="line">
                  <a:avLst/>
                </a:prstGeom>
                <a:ln w="19050">
                  <a:solidFill>
                    <a:schemeClr val="accent3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10">
                  <a:extLst>
                    <a:ext uri="{FF2B5EF4-FFF2-40B4-BE49-F238E27FC236}">
                      <a16:creationId xmlns:a16="http://schemas.microsoft.com/office/drawing/2014/main" id="{D3AF68C5-CD4D-4547-F135-89A554E94F9C}"/>
                    </a:ext>
                  </a:extLst>
                </p:cNvPr>
                <p:cNvCxnSpPr/>
                <p:nvPr/>
              </p:nvCxnSpPr>
              <p:spPr>
                <a:xfrm>
                  <a:off x="1500147" y="1481396"/>
                  <a:ext cx="0" cy="795012"/>
                </a:xfrm>
                <a:prstGeom prst="line">
                  <a:avLst/>
                </a:prstGeom>
                <a:ln w="19050">
                  <a:solidFill>
                    <a:schemeClr val="accent3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" name="组合 19">
                <a:extLst>
                  <a:ext uri="{FF2B5EF4-FFF2-40B4-BE49-F238E27FC236}">
                    <a16:creationId xmlns:a16="http://schemas.microsoft.com/office/drawing/2014/main" id="{27BDE987-5AAC-C181-B4F0-7B1EE9EE16FD}"/>
                  </a:ext>
                </a:extLst>
              </p:cNvPr>
              <p:cNvGrpSpPr/>
              <p:nvPr/>
            </p:nvGrpSpPr>
            <p:grpSpPr>
              <a:xfrm>
                <a:off x="7295259" y="2691925"/>
                <a:ext cx="3500927" cy="998538"/>
                <a:chOff x="7167073" y="2709017"/>
                <a:chExt cx="3500927" cy="998538"/>
              </a:xfrm>
            </p:grpSpPr>
            <p:cxnSp>
              <p:nvCxnSpPr>
                <p:cNvPr id="21" name="直接连接符 8">
                  <a:extLst>
                    <a:ext uri="{FF2B5EF4-FFF2-40B4-BE49-F238E27FC236}">
                      <a16:creationId xmlns:a16="http://schemas.microsoft.com/office/drawing/2014/main" id="{F4EF31B2-BB0D-7F23-26A0-C5235A90D615}"/>
                    </a:ext>
                  </a:extLst>
                </p:cNvPr>
                <p:cNvCxnSpPr/>
                <p:nvPr/>
              </p:nvCxnSpPr>
              <p:spPr>
                <a:xfrm flipV="1">
                  <a:off x="7167073" y="3690464"/>
                  <a:ext cx="3500927" cy="17091"/>
                </a:xfrm>
                <a:prstGeom prst="line">
                  <a:avLst/>
                </a:prstGeom>
                <a:ln w="19050">
                  <a:solidFill>
                    <a:schemeClr val="accent3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直接连接符 13">
                  <a:extLst>
                    <a:ext uri="{FF2B5EF4-FFF2-40B4-BE49-F238E27FC236}">
                      <a16:creationId xmlns:a16="http://schemas.microsoft.com/office/drawing/2014/main" id="{568FC54B-A408-CB9F-5CE3-1B241F6A0895}"/>
                    </a:ext>
                  </a:extLst>
                </p:cNvPr>
                <p:cNvCxnSpPr/>
                <p:nvPr/>
              </p:nvCxnSpPr>
              <p:spPr>
                <a:xfrm flipV="1">
                  <a:off x="10668000" y="2709017"/>
                  <a:ext cx="0" cy="981447"/>
                </a:xfrm>
                <a:prstGeom prst="line">
                  <a:avLst/>
                </a:prstGeom>
                <a:ln w="19050">
                  <a:solidFill>
                    <a:schemeClr val="accent3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27" name="副标题 3">
            <a:extLst>
              <a:ext uri="{FF2B5EF4-FFF2-40B4-BE49-F238E27FC236}">
                <a16:creationId xmlns:a16="http://schemas.microsoft.com/office/drawing/2014/main" id="{20B42312-FE4C-B909-28B6-2805F71C502F}"/>
              </a:ext>
            </a:extLst>
          </p:cNvPr>
          <p:cNvSpPr txBox="1">
            <a:spLocks/>
          </p:cNvSpPr>
          <p:nvPr/>
        </p:nvSpPr>
        <p:spPr>
          <a:xfrm>
            <a:off x="1524000" y="5151029"/>
            <a:ext cx="9144000" cy="12738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rgbClr val="164994"/>
                </a:solidFill>
                <a:latin typeface="Weibei SC" panose="03000800000000000000" pitchFamily="66" charset="-128"/>
                <a:ea typeface="Weibei SC" panose="03000800000000000000" pitchFamily="66" charset="-128"/>
              </a:rPr>
              <a:t>王 石 资康莉 刘 瑜</a:t>
            </a:r>
            <a:endParaRPr lang="en-US" altLang="zh-CN">
              <a:solidFill>
                <a:srgbClr val="164994"/>
              </a:solidFill>
              <a:latin typeface="Weibei SC" panose="03000800000000000000" pitchFamily="66" charset="-128"/>
              <a:ea typeface="Weibei SC" panose="03000800000000000000" pitchFamily="66" charset="-128"/>
            </a:endParaRPr>
          </a:p>
          <a:p>
            <a:r>
              <a:rPr lang="en-US" altLang="zh-CN">
                <a:solidFill>
                  <a:srgbClr val="164994"/>
                </a:solidFill>
                <a:latin typeface="Apple Chancery" panose="03020702040506060504" pitchFamily="66" charset="-79"/>
                <a:ea typeface="Weibei SC" panose="03000800000000000000" pitchFamily="66" charset="-128"/>
                <a:cs typeface="Apple Chancery" panose="03020702040506060504" pitchFamily="66" charset="-79"/>
              </a:rPr>
              <a:t>2026</a:t>
            </a:r>
            <a:r>
              <a:rPr lang="zh-CN" altLang="en-US">
                <a:solidFill>
                  <a:srgbClr val="164994"/>
                </a:solidFill>
                <a:latin typeface="Weibei SC" panose="03000800000000000000" pitchFamily="66" charset="-128"/>
                <a:ea typeface="Weibei SC" panose="03000800000000000000" pitchFamily="66" charset="-128"/>
              </a:rPr>
              <a:t>年春季课程</a:t>
            </a:r>
            <a:endParaRPr lang="zh-CN" altLang="en-US" dirty="0">
              <a:solidFill>
                <a:srgbClr val="164994"/>
              </a:solidFill>
              <a:latin typeface="Weibei SC" panose="03000800000000000000" pitchFamily="66" charset="-128"/>
              <a:ea typeface="Weibei SC" panose="03000800000000000000" pitchFamily="66" charset="-128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00854D1-43E3-5D93-2B0F-4D000D22DAC1}"/>
              </a:ext>
            </a:extLst>
          </p:cNvPr>
          <p:cNvSpPr txBox="1"/>
          <p:nvPr/>
        </p:nvSpPr>
        <p:spPr>
          <a:xfrm>
            <a:off x="3122423" y="5944128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solidFill>
                  <a:srgbClr val="0432FF"/>
                </a:solidFill>
                <a:latin typeface="Century Schoolbook" panose="020406040505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https://ictkc.github.io/teaching/</a:t>
            </a:r>
            <a:r>
              <a:rPr lang="zh-CN" altLang="en-US" sz="1800" dirty="0">
                <a:solidFill>
                  <a:srgbClr val="0432FF"/>
                </a:solidFill>
                <a:latin typeface="Century Schoolbook" panose="02040604050505020304" pitchFamily="18" charset="0"/>
              </a:rPr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28088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60AD039-B28A-99A6-B4E0-1DF5A7391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70648-4C7E-4A21-B8DD-2D1324099071}" type="slidenum">
              <a:rPr lang="zh-CN" altLang="en-US" smtClean="0"/>
              <a:t>2</a:t>
            </a:fld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6A915AE4-A94A-312D-11D8-C0BE243E108B}"/>
              </a:ext>
            </a:extLst>
          </p:cNvPr>
          <p:cNvGrpSpPr/>
          <p:nvPr/>
        </p:nvGrpSpPr>
        <p:grpSpPr>
          <a:xfrm>
            <a:off x="4188096" y="2680042"/>
            <a:ext cx="7706144" cy="1891958"/>
            <a:chOff x="1371960" y="1544925"/>
            <a:chExt cx="9424226" cy="2145538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EB5D4FA3-5163-1B81-8410-DD69D41E2A56}"/>
                </a:ext>
              </a:extLst>
            </p:cNvPr>
            <p:cNvSpPr/>
            <p:nvPr/>
          </p:nvSpPr>
          <p:spPr>
            <a:xfrm>
              <a:off x="1524000" y="1703583"/>
              <a:ext cx="9144000" cy="1812995"/>
            </a:xfrm>
            <a:prstGeom prst="rect">
              <a:avLst/>
            </a:prstGeom>
            <a:solidFill>
              <a:schemeClr val="bg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6000" dirty="0">
                  <a:solidFill>
                    <a:srgbClr val="164994"/>
                  </a:solidFill>
                  <a:latin typeface="Weibei SC" panose="03000800000000000000" pitchFamily="66" charset="-128"/>
                  <a:ea typeface="Weibei SC" panose="03000800000000000000" pitchFamily="66" charset="-128"/>
                </a:rPr>
                <a:t>第十四讲 </a:t>
              </a:r>
              <a:endParaRPr lang="en-US" altLang="zh-CN" sz="6000" dirty="0">
                <a:solidFill>
                  <a:srgbClr val="164994"/>
                </a:solidFill>
                <a:latin typeface="Weibei SC" panose="03000800000000000000" pitchFamily="66" charset="-128"/>
                <a:ea typeface="Weibei SC" panose="03000800000000000000" pitchFamily="66" charset="-128"/>
              </a:endParaRPr>
            </a:p>
            <a:p>
              <a:pPr algn="ctr"/>
              <a:r>
                <a:rPr lang="en-US" altLang="zh-CN" sz="6000" dirty="0">
                  <a:solidFill>
                    <a:srgbClr val="164994"/>
                  </a:solidFill>
                  <a:latin typeface="Tsukushi B Round Gothic Regular" panose="02020400000000000000" pitchFamily="18" charset="-128"/>
                  <a:ea typeface="Tsukushi B Round Gothic Regular" panose="02020400000000000000" pitchFamily="18" charset="-128"/>
                </a:rPr>
                <a:t>Hello again, NLP!</a:t>
              </a:r>
              <a:endParaRPr lang="zh-CN" altLang="en-US" sz="6000" dirty="0">
                <a:solidFill>
                  <a:srgbClr val="164994"/>
                </a:solidFill>
                <a:latin typeface="Tsukushi B Round Gothic Regular" panose="02020400000000000000" pitchFamily="18" charset="-128"/>
                <a:ea typeface="Tsukushi B Round Gothic Regular" panose="02020400000000000000" pitchFamily="18" charset="-128"/>
                <a:cs typeface="Apple Chancery" panose="03020702040506060504" pitchFamily="66" charset="-79"/>
              </a:endParaRP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F0545269-02D4-B7DB-E099-F0EC11BF2762}"/>
                </a:ext>
              </a:extLst>
            </p:cNvPr>
            <p:cNvGrpSpPr/>
            <p:nvPr/>
          </p:nvGrpSpPr>
          <p:grpSpPr>
            <a:xfrm>
              <a:off x="1371960" y="1544925"/>
              <a:ext cx="9424226" cy="2145538"/>
              <a:chOff x="1371960" y="1544925"/>
              <a:chExt cx="9424226" cy="2145538"/>
            </a:xfrm>
          </p:grpSpPr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0755C197-AC64-5968-C2D9-B2520FC47A01}"/>
                  </a:ext>
                </a:extLst>
              </p:cNvPr>
              <p:cNvGrpSpPr/>
              <p:nvPr/>
            </p:nvGrpSpPr>
            <p:grpSpPr>
              <a:xfrm>
                <a:off x="1371960" y="1544925"/>
                <a:ext cx="3500927" cy="803557"/>
                <a:chOff x="1500147" y="1472851"/>
                <a:chExt cx="3500927" cy="803557"/>
              </a:xfrm>
            </p:grpSpPr>
            <p:cxnSp>
              <p:nvCxnSpPr>
                <p:cNvPr id="12" name="直接连接符 6">
                  <a:extLst>
                    <a:ext uri="{FF2B5EF4-FFF2-40B4-BE49-F238E27FC236}">
                      <a16:creationId xmlns:a16="http://schemas.microsoft.com/office/drawing/2014/main" id="{4402A475-3C1E-403D-7E8D-310859C27AA5}"/>
                    </a:ext>
                  </a:extLst>
                </p:cNvPr>
                <p:cNvCxnSpPr/>
                <p:nvPr/>
              </p:nvCxnSpPr>
              <p:spPr>
                <a:xfrm flipV="1">
                  <a:off x="1500147" y="1472851"/>
                  <a:ext cx="3500927" cy="17091"/>
                </a:xfrm>
                <a:prstGeom prst="line">
                  <a:avLst/>
                </a:prstGeom>
                <a:ln w="19050">
                  <a:solidFill>
                    <a:schemeClr val="accent3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直接连接符 10">
                  <a:extLst>
                    <a:ext uri="{FF2B5EF4-FFF2-40B4-BE49-F238E27FC236}">
                      <a16:creationId xmlns:a16="http://schemas.microsoft.com/office/drawing/2014/main" id="{94C10B71-A0EF-69DE-739D-5C9EDAF83687}"/>
                    </a:ext>
                  </a:extLst>
                </p:cNvPr>
                <p:cNvCxnSpPr/>
                <p:nvPr/>
              </p:nvCxnSpPr>
              <p:spPr>
                <a:xfrm>
                  <a:off x="1500147" y="1481396"/>
                  <a:ext cx="0" cy="795012"/>
                </a:xfrm>
                <a:prstGeom prst="line">
                  <a:avLst/>
                </a:prstGeom>
                <a:ln w="19050">
                  <a:solidFill>
                    <a:schemeClr val="accent3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" name="组合 8">
                <a:extLst>
                  <a:ext uri="{FF2B5EF4-FFF2-40B4-BE49-F238E27FC236}">
                    <a16:creationId xmlns:a16="http://schemas.microsoft.com/office/drawing/2014/main" id="{473B0060-7083-4CA0-F395-081F2CFF6E9F}"/>
                  </a:ext>
                </a:extLst>
              </p:cNvPr>
              <p:cNvGrpSpPr/>
              <p:nvPr/>
            </p:nvGrpSpPr>
            <p:grpSpPr>
              <a:xfrm>
                <a:off x="7295259" y="2691925"/>
                <a:ext cx="3500927" cy="998538"/>
                <a:chOff x="7167073" y="2709017"/>
                <a:chExt cx="3500927" cy="998538"/>
              </a:xfrm>
            </p:grpSpPr>
            <p:cxnSp>
              <p:nvCxnSpPr>
                <p:cNvPr id="10" name="直接连接符 8">
                  <a:extLst>
                    <a:ext uri="{FF2B5EF4-FFF2-40B4-BE49-F238E27FC236}">
                      <a16:creationId xmlns:a16="http://schemas.microsoft.com/office/drawing/2014/main" id="{BD01ABDA-7061-53A7-A505-9A197E6B943D}"/>
                    </a:ext>
                  </a:extLst>
                </p:cNvPr>
                <p:cNvCxnSpPr/>
                <p:nvPr/>
              </p:nvCxnSpPr>
              <p:spPr>
                <a:xfrm flipV="1">
                  <a:off x="7167073" y="3690464"/>
                  <a:ext cx="3500927" cy="17091"/>
                </a:xfrm>
                <a:prstGeom prst="line">
                  <a:avLst/>
                </a:prstGeom>
                <a:ln w="19050">
                  <a:solidFill>
                    <a:schemeClr val="accent3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直接连接符 13">
                  <a:extLst>
                    <a:ext uri="{FF2B5EF4-FFF2-40B4-BE49-F238E27FC236}">
                      <a16:creationId xmlns:a16="http://schemas.microsoft.com/office/drawing/2014/main" id="{1DD6B5A0-BBC2-8BA8-0691-7B8F5DEBE149}"/>
                    </a:ext>
                  </a:extLst>
                </p:cNvPr>
                <p:cNvCxnSpPr/>
                <p:nvPr/>
              </p:nvCxnSpPr>
              <p:spPr>
                <a:xfrm flipV="1">
                  <a:off x="10668000" y="2709017"/>
                  <a:ext cx="0" cy="981447"/>
                </a:xfrm>
                <a:prstGeom prst="line">
                  <a:avLst/>
                </a:prstGeom>
                <a:ln w="19050">
                  <a:solidFill>
                    <a:schemeClr val="accent3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pic>
        <p:nvPicPr>
          <p:cNvPr id="14" name="图片 13">
            <a:extLst>
              <a:ext uri="{FF2B5EF4-FFF2-40B4-BE49-F238E27FC236}">
                <a16:creationId xmlns:a16="http://schemas.microsoft.com/office/drawing/2014/main" id="{EF55DBAD-1C4B-46F9-68F9-C6BC0000D7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547" y="1086947"/>
            <a:ext cx="3337930" cy="4684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446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20C75-DA2A-267E-18FC-AAC16AE9B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3F5CB1-38B7-4E76-D210-8FA4CE601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>
                <a:latin typeface="Yuanti SC" panose="02010600040101010101" pitchFamily="2" charset="-122"/>
                <a:ea typeface="Yuanti SC" panose="02010600040101010101" pitchFamily="2" charset="-122"/>
              </a:rPr>
              <a:t>课件来自胡玥、曹亚男、方芳老师课程，在此感谢！</a:t>
            </a:r>
          </a:p>
        </p:txBody>
      </p:sp>
      <p:sp>
        <p:nvSpPr>
          <p:cNvPr id="17" name="灯片编号占位符 3">
            <a:extLst>
              <a:ext uri="{FF2B5EF4-FFF2-40B4-BE49-F238E27FC236}">
                <a16:creationId xmlns:a16="http://schemas.microsoft.com/office/drawing/2014/main" id="{480D010C-CEEC-779E-7A0C-76BAD9F68729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11434128" y="6437060"/>
            <a:ext cx="56515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Cambria Math" panose="020405030504060302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F5CA8D-5E37-8A49-BAE7-424930B2928D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微软雅黑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微软雅黑"/>
              <a:cs typeface="+mn-cs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BABE731-9DB3-D6DB-CDB9-4A271DA378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3091" y="1691014"/>
            <a:ext cx="7065818" cy="5068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339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9B38C-E95C-393A-5A33-241C4BA43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6C6CEE-7796-2F63-600D-212E15A1D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本节复习</a:t>
            </a:r>
          </a:p>
        </p:txBody>
      </p:sp>
      <p:sp>
        <p:nvSpPr>
          <p:cNvPr id="17" name="灯片编号占位符 3">
            <a:extLst>
              <a:ext uri="{FF2B5EF4-FFF2-40B4-BE49-F238E27FC236}">
                <a16:creationId xmlns:a16="http://schemas.microsoft.com/office/drawing/2014/main" id="{F32DDFFF-D79A-8E3D-5045-A47749A3A86A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11434128" y="6437060"/>
            <a:ext cx="56515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Cambria Math" panose="020405030504060302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F5CA8D-5E37-8A49-BAE7-424930B2928D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微软雅黑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微软雅黑"/>
              <a:cs typeface="+mn-cs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858C4A9-42F6-A363-DF60-36EE9D8BA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9560"/>
            <a:ext cx="10808368" cy="4351338"/>
          </a:xfrm>
        </p:spPr>
        <p:txBody>
          <a:bodyPr>
            <a:normAutofit/>
          </a:bodyPr>
          <a:lstStyle/>
          <a:p>
            <a:pPr marL="361950" indent="-361950">
              <a:lnSpc>
                <a:spcPct val="150000"/>
              </a:lnSpc>
              <a:buFont typeface="系统字体常规体"/>
              <a:buChar char="❑"/>
            </a:pPr>
            <a:r>
              <a:rPr lang="zh-CN" altLang="en-US" sz="3200" dirty="0">
                <a:latin typeface="Century Schoolbook" panose="02040604050505020304" pitchFamily="18" charset="0"/>
              </a:rPr>
              <a:t> 文本分类</a:t>
            </a:r>
            <a:endParaRPr lang="en-US" altLang="zh-CN" sz="3200" dirty="0">
              <a:latin typeface="Century Schoolbook" panose="02040604050505020304" pitchFamily="18" charset="0"/>
            </a:endParaRPr>
          </a:p>
          <a:p>
            <a:pPr marL="361950" indent="-361950">
              <a:lnSpc>
                <a:spcPct val="150000"/>
              </a:lnSpc>
              <a:buFont typeface="系统字体常规体"/>
              <a:buChar char="❑"/>
            </a:pPr>
            <a:r>
              <a:rPr lang="zh-CN" altLang="en-US" sz="3200" dirty="0">
                <a:latin typeface="Century Schoolbook" panose="02040604050505020304" pitchFamily="18" charset="0"/>
              </a:rPr>
              <a:t> 文本匹配</a:t>
            </a:r>
            <a:endParaRPr lang="en-US" altLang="zh-CN" sz="3200" dirty="0">
              <a:latin typeface="Century Schoolbook" panose="02040604050505020304" pitchFamily="18" charset="0"/>
            </a:endParaRPr>
          </a:p>
          <a:p>
            <a:pPr marL="361950" indent="-361950">
              <a:lnSpc>
                <a:spcPct val="150000"/>
              </a:lnSpc>
              <a:buFont typeface="系统字体常规体"/>
              <a:buChar char="❑"/>
            </a:pPr>
            <a:r>
              <a:rPr lang="zh-CN" altLang="en-US" sz="3200" dirty="0">
                <a:latin typeface="Century Schoolbook" panose="02040604050505020304" pitchFamily="18" charset="0"/>
              </a:rPr>
              <a:t> 序列标注</a:t>
            </a:r>
            <a:endParaRPr lang="en-US" altLang="zh-CN" sz="3200" dirty="0">
              <a:latin typeface="Century Schoolbook" panose="02040604050505020304" pitchFamily="18" charset="0"/>
            </a:endParaRPr>
          </a:p>
          <a:p>
            <a:pPr marL="361950" indent="-361950">
              <a:lnSpc>
                <a:spcPct val="150000"/>
              </a:lnSpc>
              <a:buFont typeface="系统字体常规体"/>
              <a:buChar char="❑"/>
            </a:pPr>
            <a:r>
              <a:rPr lang="zh-CN" altLang="en-US" sz="3200" dirty="0">
                <a:latin typeface="Century Schoolbook" panose="02040604050505020304" pitchFamily="18" charset="0"/>
              </a:rPr>
              <a:t> 文本生成</a:t>
            </a:r>
            <a:endParaRPr lang="en-US" altLang="zh-CN" sz="2800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712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B8616-C02D-46A2-9C74-9048A2B91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52C67D-2961-2F9B-F0FA-BFCDB3902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10809157" cy="125888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Century Schoolbook" panose="02040604050505020304" pitchFamily="18" charset="0"/>
                <a:ea typeface="Yuanti SC" panose="02010600040101010101" pitchFamily="2" charset="-122"/>
              </a:rPr>
              <a:t> 大作业</a:t>
            </a:r>
            <a:endParaRPr lang="en-US" altLang="zh-CN" dirty="0">
              <a:latin typeface="Century Schoolbook" panose="02040604050505020304" pitchFamily="18" charset="0"/>
              <a:ea typeface="Yuanti SC" panose="02010600040101010101" pitchFamily="2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D13CC60-E8D4-DB59-2E42-D5E94B6D3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70648-4C7E-4A21-B8DD-2D1324099071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135E61-0814-7677-60F8-A1D494E886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9560"/>
            <a:ext cx="10808368" cy="4351338"/>
          </a:xfrm>
        </p:spPr>
        <p:txBody>
          <a:bodyPr>
            <a:normAutofit/>
          </a:bodyPr>
          <a:lstStyle/>
          <a:p>
            <a:pPr marL="361950" indent="-361950">
              <a:lnSpc>
                <a:spcPct val="150000"/>
              </a:lnSpc>
              <a:buFont typeface="系统字体常规体"/>
              <a:buChar char="❑"/>
            </a:pPr>
            <a:r>
              <a:rPr lang="zh-CN" altLang="en-US" sz="3200" dirty="0">
                <a:latin typeface="Century Schoolbook" panose="02040604050505020304" pitchFamily="18" charset="0"/>
              </a:rPr>
              <a:t> 学习基于深度学习的</a:t>
            </a:r>
            <a:r>
              <a:rPr lang="en-US" altLang="zh-CN" sz="3200" dirty="0">
                <a:latin typeface="Century Schoolbook" panose="02040604050505020304" pitchFamily="18" charset="0"/>
              </a:rPr>
              <a:t>NER</a:t>
            </a:r>
            <a:r>
              <a:rPr lang="zh-CN" altLang="en-US" sz="3200" dirty="0">
                <a:latin typeface="Century Schoolbook" panose="02040604050505020304" pitchFamily="18" charset="0"/>
              </a:rPr>
              <a:t>模型，写学习报告（包含代码结构、模型结构等），并设计一个实际场景调用</a:t>
            </a:r>
            <a:endParaRPr lang="en-US" altLang="zh-CN" sz="3200" dirty="0">
              <a:latin typeface="Century Schoolbook" panose="02040604050505020304" pitchFamily="18" charset="0"/>
            </a:endParaRPr>
          </a:p>
          <a:p>
            <a:pPr marL="819150" lvl="1" indent="-361950">
              <a:lnSpc>
                <a:spcPct val="150000"/>
              </a:lnSpc>
              <a:buFont typeface="系统字体常规体"/>
              <a:buChar char="❑"/>
            </a:pPr>
            <a:r>
              <a:rPr lang="en-US" altLang="zh-CN" sz="2800" dirty="0">
                <a:latin typeface="Century Schoolbook" panose="02040604050505020304" pitchFamily="18" charset="0"/>
              </a:rPr>
              <a:t>https://</a:t>
            </a:r>
            <a:r>
              <a:rPr lang="en-US" altLang="zh-CN" sz="2800" dirty="0" err="1">
                <a:latin typeface="Century Schoolbook" panose="02040604050505020304" pitchFamily="18" charset="0"/>
              </a:rPr>
              <a:t>github.com</a:t>
            </a:r>
            <a:r>
              <a:rPr lang="en-US" altLang="zh-CN" sz="2800" dirty="0">
                <a:latin typeface="Century Schoolbook" panose="02040604050505020304" pitchFamily="18" charset="0"/>
              </a:rPr>
              <a:t>/</a:t>
            </a:r>
            <a:r>
              <a:rPr lang="en-US" altLang="zh-CN" sz="2800" dirty="0" err="1">
                <a:latin typeface="Century Schoolbook" panose="02040604050505020304" pitchFamily="18" charset="0"/>
              </a:rPr>
              <a:t>thunlp</a:t>
            </a:r>
            <a:r>
              <a:rPr lang="en-US" altLang="zh-CN" sz="2800" dirty="0">
                <a:latin typeface="Century Schoolbook" panose="02040604050505020304" pitchFamily="18" charset="0"/>
              </a:rPr>
              <a:t>/</a:t>
            </a:r>
            <a:r>
              <a:rPr lang="en-US" altLang="zh-CN" sz="2800" dirty="0" err="1">
                <a:latin typeface="Century Schoolbook" panose="02040604050505020304" pitchFamily="18" charset="0"/>
              </a:rPr>
              <a:t>OpenNRE</a:t>
            </a:r>
            <a:endParaRPr lang="en-US" altLang="zh-CN" sz="3200" dirty="0">
              <a:latin typeface="Century Schoolbook" panose="02040604050505020304" pitchFamily="18" charset="0"/>
            </a:endParaRPr>
          </a:p>
          <a:p>
            <a:pPr marL="361950" indent="-361950">
              <a:lnSpc>
                <a:spcPct val="150000"/>
              </a:lnSpc>
              <a:buFont typeface="系统字体常规体"/>
              <a:buChar char="❑"/>
            </a:pPr>
            <a:r>
              <a:rPr lang="zh-CN" altLang="en-US" sz="3200" dirty="0">
                <a:latin typeface="Century Schoolbook" panose="02040604050505020304" pitchFamily="18" charset="0"/>
              </a:rPr>
              <a:t> 思考：大模型时代传统</a:t>
            </a:r>
            <a:r>
              <a:rPr lang="en-US" altLang="zh-CN" sz="3200" dirty="0">
                <a:latin typeface="Century Schoolbook" panose="02040604050505020304" pitchFamily="18" charset="0"/>
              </a:rPr>
              <a:t>NLP</a:t>
            </a:r>
            <a:r>
              <a:rPr lang="zh-CN" altLang="en-US" sz="3200" dirty="0">
                <a:latin typeface="Century Schoolbook" panose="02040604050505020304" pitchFamily="18" charset="0"/>
              </a:rPr>
              <a:t>还有没有价值？</a:t>
            </a:r>
            <a:endParaRPr lang="en-US" altLang="zh-CN" sz="2800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4373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8733B-289C-0C08-C161-59BDC1208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9BDE81-869B-04F7-6E85-F01CA9EAA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致  谢</a:t>
            </a:r>
          </a:p>
        </p:txBody>
      </p:sp>
      <p:sp>
        <p:nvSpPr>
          <p:cNvPr id="17" name="灯片编号占位符 3">
            <a:extLst>
              <a:ext uri="{FF2B5EF4-FFF2-40B4-BE49-F238E27FC236}">
                <a16:creationId xmlns:a16="http://schemas.microsoft.com/office/drawing/2014/main" id="{83D170EF-6CEB-DF16-C4DF-92BE2536B8C6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11434128" y="6437060"/>
            <a:ext cx="56515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Cambria Math" panose="020405030504060302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F5CA8D-5E37-8A49-BAE7-424930B2928D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微软雅黑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微软雅黑"/>
              <a:cs typeface="+mn-cs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F2FB1B51-8D81-EC86-644A-28B8F599C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6682"/>
            <a:ext cx="10808368" cy="4351338"/>
          </a:xfrm>
        </p:spPr>
        <p:txBody>
          <a:bodyPr>
            <a:normAutofit/>
          </a:bodyPr>
          <a:lstStyle/>
          <a:p>
            <a:pPr marL="488950" indent="-488950">
              <a:lnSpc>
                <a:spcPct val="150000"/>
              </a:lnSpc>
              <a:buFont typeface="系统字体常规体"/>
              <a:buChar char="❑"/>
            </a:pPr>
            <a:r>
              <a:rPr lang="zh-CN" alt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胡玥、曹亚男、方芳：国科大</a:t>
            </a:r>
            <a:r>
              <a:rPr lang="en-US" altLang="zh-CN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自然语言处理基础</a:t>
            </a:r>
            <a:r>
              <a:rPr lang="en-US" altLang="zh-CN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</a:p>
          <a:p>
            <a:pPr marL="488950" indent="-488950">
              <a:lnSpc>
                <a:spcPct val="150000"/>
              </a:lnSpc>
              <a:buFont typeface="系统字体常规体"/>
              <a:buChar char="❑"/>
            </a:pPr>
            <a:r>
              <a:rPr lang="zh-CN" alt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曹亚男、任昱冰：国科大</a:t>
            </a:r>
            <a:r>
              <a:rPr lang="en-US" altLang="zh-CN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深度学习与自然语言处理概述</a:t>
            </a:r>
            <a:r>
              <a:rPr lang="en-US" altLang="zh-CN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E5875D3-310A-BEAB-3035-1744A11A0B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2384" y="3168374"/>
            <a:ext cx="4387316" cy="32719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EA33C3A6-57BF-25C0-1B13-65C79999F5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3105" y="3168374"/>
            <a:ext cx="4387317" cy="32337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06212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86770" y="2081667"/>
            <a:ext cx="6218459" cy="2694666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74B2DD1-AC5E-2670-580D-F244ACA97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70648-4C7E-4A21-B8DD-2D1324099071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>
          <a:xfrm>
            <a:off x="2986770" y="4026239"/>
            <a:ext cx="6218459" cy="520361"/>
          </a:xfrm>
        </p:spPr>
        <p:txBody>
          <a:bodyPr>
            <a:normAutofit fontScale="92500"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entury Schoolbook" panose="02040604050505020304" pitchFamily="18" charset="0"/>
                <a:ea typeface="Yuanti SC" panose="02010600040101010101" pitchFamily="2" charset="-122"/>
              </a:rPr>
              <a:t>https://</a:t>
            </a:r>
            <a:r>
              <a:rPr lang="en-US" altLang="zh-CN" dirty="0" err="1">
                <a:solidFill>
                  <a:schemeClr val="bg1"/>
                </a:solidFill>
                <a:latin typeface="Century Schoolbook" panose="02040604050505020304" pitchFamily="18" charset="0"/>
                <a:ea typeface="Yuanti SC" panose="02010600040101010101" pitchFamily="2" charset="-122"/>
              </a:rPr>
              <a:t>ictkc.github.io</a:t>
            </a:r>
            <a:r>
              <a:rPr lang="en-US" altLang="zh-CN" dirty="0">
                <a:solidFill>
                  <a:schemeClr val="bg1"/>
                </a:solidFill>
                <a:latin typeface="Century Schoolbook" panose="02040604050505020304" pitchFamily="18" charset="0"/>
                <a:ea typeface="Yuanti SC" panose="02010600040101010101" pitchFamily="2" charset="-122"/>
              </a:rPr>
              <a:t>/teaching/2026spring-nlp</a:t>
            </a:r>
            <a:endParaRPr lang="zh-CN" altLang="en-US" dirty="0">
              <a:solidFill>
                <a:schemeClr val="bg1"/>
              </a:solidFill>
              <a:latin typeface="Century Schoolbook" panose="02040604050505020304" pitchFamily="18" charset="0"/>
              <a:ea typeface="Yuanti SC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383091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2"/>
  <p:tag name="KSO_WM_UNIT_TYPE" val="i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2"/>
  <p:tag name="KSO_WM_UNIT_TYPE" val="i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2"/>
  <p:tag name="KSO_WM_UNIT_TYPE" val="i"/>
  <p:tag name="KSO_WM_BEAUTIFY_FLAG" val="#wm#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C80E00"/>
      </a:accent1>
      <a:accent2>
        <a:srgbClr val="FE9600"/>
      </a:accent2>
      <a:accent3>
        <a:srgbClr val="0578C9"/>
      </a:accent3>
      <a:accent4>
        <a:srgbClr val="FF7100"/>
      </a:accent4>
      <a:accent5>
        <a:srgbClr val="FE9D00"/>
      </a:accent5>
      <a:accent6>
        <a:srgbClr val="D93700"/>
      </a:accent6>
      <a:hlink>
        <a:srgbClr val="4472C4"/>
      </a:hlink>
      <a:folHlink>
        <a:srgbClr val="BFBFBF"/>
      </a:folHlink>
    </a:clrScheme>
    <a:fontScheme name="雅黑A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68395"/>
    </a:dk2>
    <a:lt2>
      <a:srgbClr val="F0F0F0"/>
    </a:lt2>
    <a:accent1>
      <a:srgbClr val="C80E00"/>
    </a:accent1>
    <a:accent2>
      <a:srgbClr val="FE9600"/>
    </a:accent2>
    <a:accent3>
      <a:srgbClr val="0578C9"/>
    </a:accent3>
    <a:accent4>
      <a:srgbClr val="FF7100"/>
    </a:accent4>
    <a:accent5>
      <a:srgbClr val="FE9D00"/>
    </a:accent5>
    <a:accent6>
      <a:srgbClr val="D93700"/>
    </a:accent6>
    <a:hlink>
      <a:srgbClr val="4472C4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68395"/>
    </a:dk2>
    <a:lt2>
      <a:srgbClr val="F0F0F0"/>
    </a:lt2>
    <a:accent1>
      <a:srgbClr val="C80E00"/>
    </a:accent1>
    <a:accent2>
      <a:srgbClr val="FE9600"/>
    </a:accent2>
    <a:accent3>
      <a:srgbClr val="0578C9"/>
    </a:accent3>
    <a:accent4>
      <a:srgbClr val="FF7100"/>
    </a:accent4>
    <a:accent5>
      <a:srgbClr val="FE9D00"/>
    </a:accent5>
    <a:accent6>
      <a:srgbClr val="D93700"/>
    </a:accent6>
    <a:hlink>
      <a:srgbClr val="4472C4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27124</TotalTime>
  <Words>190</Words>
  <Application>Microsoft Macintosh PowerPoint</Application>
  <PresentationFormat>宽屏</PresentationFormat>
  <Paragraphs>33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Tsukushi A Round Gothic Regular</vt:lpstr>
      <vt:lpstr>Tsukushi B Round Gothic Regular</vt:lpstr>
      <vt:lpstr>Weibei SC</vt:lpstr>
      <vt:lpstr>Yuanti SC</vt:lpstr>
      <vt:lpstr>微软雅黑</vt:lpstr>
      <vt:lpstr>等线</vt:lpstr>
      <vt:lpstr>系统字体常规体</vt:lpstr>
      <vt:lpstr>Apple Chancery</vt:lpstr>
      <vt:lpstr>Arial</vt:lpstr>
      <vt:lpstr>Cambria Math</vt:lpstr>
      <vt:lpstr>Century Schoolbook</vt:lpstr>
      <vt:lpstr>Office 主题​​</vt:lpstr>
      <vt:lpstr>PowerPoint 演示文稿</vt:lpstr>
      <vt:lpstr>PowerPoint 演示文稿</vt:lpstr>
      <vt:lpstr>课件来自胡玥、曹亚男、方芳老师课程，在此感谢！</vt:lpstr>
      <vt:lpstr>本节复习</vt:lpstr>
      <vt:lpstr> 大作业</vt:lpstr>
      <vt:lpstr>致  谢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WJT</dc:creator>
  <cp:lastModifiedBy>Microsoft Office User</cp:lastModifiedBy>
  <cp:revision>2689</cp:revision>
  <cp:lastPrinted>2026-02-24T20:35:23Z</cp:lastPrinted>
  <dcterms:created xsi:type="dcterms:W3CDTF">2018-08-12T03:36:57Z</dcterms:created>
  <dcterms:modified xsi:type="dcterms:W3CDTF">2026-05-30T13:43:18Z</dcterms:modified>
</cp:coreProperties>
</file>